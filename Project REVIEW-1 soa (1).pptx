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August 19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634841"/>
              </p:ext>
            </p:extLst>
          </p:nvPr>
        </p:nvGraphicFramePr>
        <p:xfrm>
          <a:off x="8193271" y="4898509"/>
          <a:ext cx="3702050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Akshitha — 2420090105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Suchita — 2420090122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Tarun — 2420090070</a:t>
                      </a:r>
                      <a:endParaRPr lang="en-IN" sz="14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19 August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Poppins" pitchFamily="2" charset="77"/>
              </a:rPr>
              <a:t>FactoryDNA Ai: manufacturing process genome learning for zero waste productions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August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55728" cy="4143401"/>
            <a:chOff x="1929643" y="1656655"/>
            <a:chExt cx="6755728" cy="414340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30FD9C-7C6B-6953-3D90-CC70C8FC366A}"/>
              </a:ext>
            </a:extLst>
          </p:cNvPr>
          <p:cNvSpPr txBox="1"/>
          <p:nvPr/>
        </p:nvSpPr>
        <p:spPr>
          <a:xfrm>
            <a:off x="304800" y="1331495"/>
            <a:ext cx="11582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1.Lack of Predictive Intelligence:</a:t>
            </a:r>
          </a:p>
          <a:p>
            <a:r>
              <a:rPr lang="en-US" dirty="0">
                <a:cs typeface="Times New Roman" panose="02020603050405020304" pitchFamily="18" charset="0"/>
              </a:rPr>
              <a:t>Existing systems can collect manufacturing data, but there is a need for predictive intelligence that can correlate process conditions with waste and production outcomes and support optimization.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r>
              <a:rPr lang="en-US" b="1" dirty="0">
                <a:cs typeface="Times New Roman" panose="02020603050405020304" pitchFamily="18" charset="0"/>
              </a:rPr>
              <a:t>2. Complex &amp; Variable Manufacturing Conditions: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Manufacturing processes differ across industries and equipment, involving parameters such as temperature, pressure, speed, vibration, and energy consumption. A system is needed that can learn from process-specific data.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r>
              <a:rPr lang="en-US" b="1" dirty="0">
                <a:cs typeface="Times New Roman" panose="02020603050405020304" pitchFamily="18" charset="0"/>
              </a:rPr>
              <a:t>3. Prevention Over Cure: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Predicting waste before it occurs can enable preventive action, supporting sustainable production while reducing material waste and improving production efficiency.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B7EE91-21C8-F56F-9FEC-B64B37B58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0816"/>
            <a:ext cx="12192000" cy="220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0A0E95-EEFA-46E6-C6CF-76AF3E83C66D}"/>
              </a:ext>
            </a:extLst>
          </p:cNvPr>
          <p:cNvSpPr txBox="1"/>
          <p:nvPr/>
        </p:nvSpPr>
        <p:spPr>
          <a:xfrm>
            <a:off x="678094" y="1115500"/>
            <a:ext cx="1127075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Data Collection</a:t>
            </a:r>
            <a:endParaRPr lang="en-US" dirty="0"/>
          </a:p>
          <a:p>
            <a:r>
              <a:rPr lang="en-US" dirty="0"/>
              <a:t>Collect real-time and historical manufacturing data using IoT sensors.</a:t>
            </a:r>
          </a:p>
          <a:p>
            <a:r>
              <a:rPr lang="en-US" dirty="0"/>
              <a:t>Capture machine settings, production yield, waste, quality, and operating conditions.</a:t>
            </a:r>
          </a:p>
          <a:p>
            <a:endParaRPr lang="en-US" dirty="0"/>
          </a:p>
          <a:p>
            <a:r>
              <a:rPr lang="en-US" b="1" dirty="0"/>
              <a:t>2. Process Learning</a:t>
            </a:r>
            <a:endParaRPr lang="en-US" dirty="0"/>
          </a:p>
          <a:p>
            <a:r>
              <a:rPr lang="en-US" dirty="0"/>
              <a:t>Analyze manufacturing data to learn relationships between machine settings, production output, and waste.</a:t>
            </a:r>
          </a:p>
          <a:p>
            <a:r>
              <a:rPr lang="en-US" dirty="0"/>
              <a:t>Develop a process-specific “Manufacturing Process Genome”</a:t>
            </a:r>
            <a:r>
              <a:rPr lang="en-US" b="1" dirty="0"/>
              <a:t>.</a:t>
            </a:r>
          </a:p>
          <a:p>
            <a:endParaRPr lang="en-US" dirty="0"/>
          </a:p>
          <a:p>
            <a:r>
              <a:rPr lang="en-US" b="1" dirty="0"/>
              <a:t>3. Waste Prediction</a:t>
            </a:r>
            <a:endParaRPr lang="en-US" dirty="0"/>
          </a:p>
          <a:p>
            <a:r>
              <a:rPr lang="en-US" dirty="0"/>
              <a:t>Predict the risk of waste and defects based on current manufacturing conditions.</a:t>
            </a:r>
          </a:p>
          <a:p>
            <a:r>
              <a:rPr lang="en-US" dirty="0"/>
              <a:t>Identify abnormal or high-risk operating conditions before significant waste occurs.</a:t>
            </a:r>
          </a:p>
          <a:p>
            <a:endParaRPr lang="en-US" dirty="0"/>
          </a:p>
          <a:p>
            <a:r>
              <a:rPr lang="en-US" b="1" dirty="0"/>
              <a:t>4. Optimization &amp; Recommendation</a:t>
            </a:r>
            <a:endParaRPr lang="en-US" dirty="0"/>
          </a:p>
          <a:p>
            <a:r>
              <a:rPr lang="en-US" dirty="0"/>
              <a:t>Identify process parameters contributing to predicted waste.</a:t>
            </a:r>
          </a:p>
          <a:p>
            <a:r>
              <a:rPr lang="en-US" dirty="0"/>
              <a:t>Recommend improved operating conditions to reduce waste while maintaining production efficiency.</a:t>
            </a:r>
          </a:p>
          <a:p>
            <a:endParaRPr lang="en-US" dirty="0"/>
          </a:p>
          <a:p>
            <a:r>
              <a:rPr lang="en-US" b="1" dirty="0"/>
              <a:t>5. Monitoring &amp; Evaluation</a:t>
            </a:r>
            <a:endParaRPr lang="en-US" dirty="0"/>
          </a:p>
          <a:p>
            <a:r>
              <a:rPr lang="en-US" dirty="0"/>
              <a:t>Provide a real-time dashboard for machine conditions, waste-risk predictions, contributing factors, and recommendations.</a:t>
            </a:r>
          </a:p>
          <a:p>
            <a:r>
              <a:rPr lang="en-US" dirty="0"/>
              <a:t>Evaluate the system using appropriate machine-learning performance metrics.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3742294"/>
              </p:ext>
            </p:extLst>
          </p:nvPr>
        </p:nvGraphicFramePr>
        <p:xfrm>
          <a:off x="274646" y="689466"/>
          <a:ext cx="11642705" cy="55525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Faisal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Altarazi</a:t>
                      </a:r>
                      <a:br>
                        <a:rPr lang="en-IN" sz="1400" dirty="0"/>
                      </a:b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Optimizing Waste Reduction in Manufacturing Processes Utilizing IoT Data with Machine Learning Approach for Sustainable Production</a:t>
                      </a:r>
                    </a:p>
                    <a:p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IoT data + deep learning (</a:t>
                      </a:r>
                      <a:r>
                        <a:rPr lang="en-US" sz="1400" b="1" dirty="0" err="1"/>
                        <a:t>EcoEfficientNet</a:t>
                      </a:r>
                      <a:r>
                        <a:rPr lang="en-US" sz="1400" dirty="0"/>
                        <a:t>)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Identifies patterns and areas where manufacturing waste can be reduced; includes optimization recommendations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Focuses on a particular manufacturing case rather than a generalized SOA-based system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Tercan &amp; Meisen 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Machine learning and deep learning based predictive quality in</a:t>
                      </a:r>
                    </a:p>
                    <a:p>
                      <a:r>
                        <a:rPr lang="en-IN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manufacturing: a systematic review</a:t>
                      </a:r>
                      <a:endParaRPr lang="en-IN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Systematic review of </a:t>
                      </a:r>
                      <a:r>
                        <a:rPr lang="en-US" sz="1400" b="1" dirty="0"/>
                        <a:t>81 studies</a:t>
                      </a:r>
                      <a:r>
                        <a:rPr lang="en-US" sz="1400" dirty="0"/>
                        <a:t> using ML/DL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Shows that process and sensor data can be used to predict product quality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Predictive quality research is spread across different processes; broader integration remains challenging</a:t>
                      </a: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Min,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Qingfei</a:t>
                      </a:r>
                      <a:endParaRPr lang="en-I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Lu,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Yangguang</a:t>
                      </a:r>
                      <a:endParaRPr lang="en-I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Liu, Zhiyong</a:t>
                      </a:r>
                    </a:p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Su, Chao</a:t>
                      </a:r>
                    </a:p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Wang, Bo</a:t>
                      </a:r>
                    </a:p>
                    <a:p>
                      <a:pPr marL="0" algn="l" defTabSz="914400" rtl="0" eaLnBrk="1" latinLnBrk="0" hangingPunct="1"/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Machine Learning based Digital Twin Framework for Production Optimization in Petrochemical Industry</a:t>
                      </a:r>
                    </a:p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Industrial </a:t>
                      </a:r>
                      <a:r>
                        <a:rPr lang="en-US" sz="1400" b="0" u="non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IOT+ML+Digital</a:t>
                      </a:r>
                      <a:r>
                        <a:rPr lang="en-US" sz="1400" b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 twin framework(new method)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Demonstrates real-time data-driven production control and optimization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Focused on petrochemical production and digital-twin-based optimization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19 August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C8B81C-36C2-A8F6-E0AB-83AEC3B385B0}"/>
              </a:ext>
            </a:extLst>
          </p:cNvPr>
          <p:cNvSpPr txBox="1"/>
          <p:nvPr/>
        </p:nvSpPr>
        <p:spPr>
          <a:xfrm>
            <a:off x="363794" y="1052052"/>
            <a:ext cx="1124810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Fragmented Solutions</a:t>
            </a:r>
            <a:endParaRPr lang="en-US" dirty="0"/>
          </a:p>
          <a:p>
            <a:r>
              <a:rPr lang="en-US" dirty="0"/>
              <a:t>Existing studies focus on individual areas such as quality prediction, maintenance, waste reduction, or production optimization. </a:t>
            </a:r>
          </a:p>
          <a:p>
            <a:r>
              <a:rPr lang="en-US" dirty="0"/>
              <a:t>These capabilities are often developed separately rather than as one integrated system. </a:t>
            </a:r>
          </a:p>
          <a:p>
            <a:endParaRPr lang="en-US" dirty="0"/>
          </a:p>
          <a:p>
            <a:r>
              <a:rPr lang="en-US" b="1" dirty="0"/>
              <a:t>2. Limited Waste-Focused Prediction</a:t>
            </a:r>
            <a:endParaRPr lang="en-US" dirty="0"/>
          </a:p>
          <a:p>
            <a:r>
              <a:rPr lang="en-US" dirty="0"/>
              <a:t>Many manufacturing AI systems focus on detecting defects or machine failures. </a:t>
            </a:r>
          </a:p>
          <a:p>
            <a:r>
              <a:rPr lang="en-US" dirty="0"/>
              <a:t>Fewer approaches directly connect process settings → production output → waste generation for proactive waste reduction. </a:t>
            </a:r>
          </a:p>
          <a:p>
            <a:endParaRPr lang="en-US" dirty="0"/>
          </a:p>
          <a:p>
            <a:r>
              <a:rPr lang="en-US" b="1" dirty="0"/>
              <a:t>3. From Prediction to Action</a:t>
            </a:r>
            <a:endParaRPr lang="en-US" dirty="0"/>
          </a:p>
          <a:p>
            <a:r>
              <a:rPr lang="en-US" dirty="0"/>
              <a:t>Predicting defects or waste is not sufficient by itself. </a:t>
            </a:r>
          </a:p>
          <a:p>
            <a:r>
              <a:rPr lang="en-US" dirty="0"/>
              <a:t>There is a need to identify the parameters contributing to the risk and translate predictions into actionable optimization recommendations. </a:t>
            </a:r>
          </a:p>
          <a:p>
            <a:endParaRPr lang="en-US" dirty="0"/>
          </a:p>
          <a:p>
            <a:r>
              <a:rPr lang="en-US" b="1" dirty="0"/>
              <a:t>4. Need for an Integrated, Adaptive System</a:t>
            </a:r>
            <a:endParaRPr lang="en-US" dirty="0"/>
          </a:p>
          <a:p>
            <a:r>
              <a:rPr lang="en-US" dirty="0"/>
              <a:t>Manufacturing conditions differ across processes and equipment. </a:t>
            </a:r>
          </a:p>
          <a:p>
            <a:r>
              <a:rPr lang="en-US" dirty="0"/>
              <a:t>FactoryDNA aims to combine IoT data collection, process learning, waste prediction, root-cause analysis, optimization, and monitoring within a scalable SOA-based system.</a:t>
            </a:r>
          </a:p>
          <a:p>
            <a:endParaRPr lang="en-US" dirty="0"/>
          </a:p>
          <a:p>
            <a:r>
              <a:rPr lang="en-US" dirty="0" err="1"/>
              <a:t>Src:https</a:t>
            </a:r>
            <a:r>
              <a:rPr lang="en-US" dirty="0"/>
              <a:t>://link.springer.com/article/10.1007/s10845-022-01963-8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480105" y="299384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A4DF87-CEEE-888B-777A-69D1A422F1C4}"/>
              </a:ext>
            </a:extLst>
          </p:cNvPr>
          <p:cNvSpPr txBox="1"/>
          <p:nvPr/>
        </p:nvSpPr>
        <p:spPr>
          <a:xfrm>
            <a:off x="521109" y="1046884"/>
            <a:ext cx="673509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Manufacturing Process Genome </a:t>
            </a:r>
          </a:p>
          <a:p>
            <a:r>
              <a:rPr lang="en-US" dirty="0"/>
              <a:t>Creates a process-specific profile from historical manufacturing data. </a:t>
            </a:r>
          </a:p>
          <a:p>
            <a:r>
              <a:rPr lang="en-US" dirty="0"/>
              <a:t>Learns the relationship between machine conditions, production output, and waste. </a:t>
            </a:r>
          </a:p>
          <a:p>
            <a:endParaRPr lang="en-US" dirty="0"/>
          </a:p>
          <a:p>
            <a:r>
              <a:rPr lang="en-US" b="1" dirty="0"/>
              <a:t>2. Predictive Waste Intelligence</a:t>
            </a:r>
            <a:endParaRPr lang="en-US" dirty="0"/>
          </a:p>
          <a:p>
            <a:r>
              <a:rPr lang="en-US" dirty="0"/>
              <a:t>Goes beyond simply monitoring machine parameters. </a:t>
            </a:r>
          </a:p>
          <a:p>
            <a:r>
              <a:rPr lang="en-US" dirty="0"/>
              <a:t>Predicts potential waste/defect risk from current operating conditions. </a:t>
            </a:r>
          </a:p>
          <a:p>
            <a:endParaRPr lang="en-US" dirty="0"/>
          </a:p>
          <a:p>
            <a:r>
              <a:rPr lang="en-US" b="1" dirty="0"/>
              <a:t>3. From Prediction to Recommendation</a:t>
            </a:r>
            <a:endParaRPr lang="en-US" dirty="0"/>
          </a:p>
          <a:p>
            <a:r>
              <a:rPr lang="en-US" dirty="0"/>
              <a:t>Identifies parameters contributing to the predicted waste. </a:t>
            </a:r>
          </a:p>
          <a:p>
            <a:r>
              <a:rPr lang="en-US" dirty="0"/>
              <a:t>Converts AI predictions into actionable recommendations for improving machine settings. </a:t>
            </a:r>
          </a:p>
          <a:p>
            <a:endParaRPr lang="en-US" dirty="0"/>
          </a:p>
          <a:p>
            <a:r>
              <a:rPr lang="en-US" b="1" dirty="0"/>
              <a:t>4. Integrated SOA-Based System</a:t>
            </a:r>
            <a:endParaRPr lang="en-US" dirty="0"/>
          </a:p>
          <a:p>
            <a:r>
              <a:rPr lang="en-US" dirty="0"/>
              <a:t>Combines IoT data collection, data processing, AI prediction, optimization, and monitoring as independent services. </a:t>
            </a:r>
          </a:p>
          <a:p>
            <a:r>
              <a:rPr lang="en-US" dirty="0"/>
              <a:t>Allows the system to be modular, scalable, and adaptable to different manufacturing processes.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8311D1-B316-836D-1AB3-1FBD336E9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8" t="12075" r="7401" b="12087"/>
          <a:stretch>
            <a:fillRect/>
          </a:stretch>
        </p:blipFill>
        <p:spPr>
          <a:xfrm>
            <a:off x="7148053" y="2025445"/>
            <a:ext cx="4522838" cy="333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0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6A80D9-30BA-96A2-A456-2607BBF9E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7" y="622550"/>
            <a:ext cx="5775054" cy="60142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4D95D4-7180-AFA9-D471-F25A0D24AE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852" y="622550"/>
            <a:ext cx="6135329" cy="587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816</Words>
  <Application>Microsoft Office PowerPoint</Application>
  <PresentationFormat>Widescreen</PresentationFormat>
  <Paragraphs>134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suchita nair</cp:lastModifiedBy>
  <cp:revision>32</cp:revision>
  <dcterms:created xsi:type="dcterms:W3CDTF">2026-08-08T06:33:56Z</dcterms:created>
  <dcterms:modified xsi:type="dcterms:W3CDTF">2026-08-19T08:01:46Z</dcterms:modified>
</cp:coreProperties>
</file>